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Bìa</a:t>
            </a:r>
          </a:p>
          <a:p/>
          <a:p>
            <a:r>
              <a:t>TravelChatbot.App</a:t>
            </a:r>
          </a:p>
          <a:p>
            <a:r>
              <a:t>Hackathon · Domain-Specific RAG Assistant</a:t>
            </a:r>
          </a:p>
          <a:p>
            <a:r>
              <a:t>Trợ lý AI chuyên biệt theo lĩnh vực</a:t>
            </a:r>
          </a:p>
          <a:p>
            <a:r>
              <a:t>Trợ lý Du lịch</a:t>
            </a:r>
          </a:p>
          <a:p>
            <a:r>
              <a:t>Di sản Việt Nam</a:t>
            </a:r>
          </a:p>
          <a:p>
            <a:r>
              <a:t>Hệ thống RAG đa tác tử trả lời câu hỏi về tour và di sản văn hoá, truy xuất trực tiếp từ cẩm nang hướng dẫn gốc thay vì dựa vào trí nhớ của mô hình.</a:t>
            </a:r>
          </a:p>
          <a:p>
            <a:r>
              <a:t>03Tác tử LangGraph</a:t>
            </a:r>
          </a:p>
          <a:p>
            <a:r>
              <a:t>Controller · Search · Register</a:t>
            </a:r>
          </a:p>
          <a:p>
            <a:r>
              <a:t>04Tool gọi được</a:t>
            </a:r>
          </a:p>
          <a:p>
            <a:r>
              <a:t>Function calling</a:t>
            </a:r>
          </a:p>
          <a:p>
            <a:r>
              <a:t>1536Chiều vector</a:t>
            </a:r>
          </a:p>
          <a:p>
            <a:r>
              <a:t>Pinecone · cosine</a:t>
            </a:r>
          </a:p>
          <a:p>
            <a:r>
              <a:t>Streamlit · LangGraph · Pinecone · DynamoDB · S3</a:t>
            </a:r>
          </a:p>
          <a:p>
            <a:r>
              <a:t>05.09.2026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Bài toán</a:t>
            </a:r>
          </a:p>
          <a:p/>
          <a:p>
            <a:r>
              <a:t>01 · Bài toán &amp; lĩnh vực</a:t>
            </a:r>
          </a:p>
          <a:p>
            <a:r>
              <a:t>02 / 16</a:t>
            </a:r>
          </a:p>
          <a:p>
            <a:r>
              <a:t>Domain requirements</a:t>
            </a:r>
          </a:p>
          <a:p>
            <a:r>
              <a:t>Tri thức di sản nằm trong PDF dài, còn dữ liệu tour nằm trong cơ sở dữ liệu</a:t>
            </a:r>
          </a:p>
          <a:p>
            <a:r>
              <a:t>Ba trở ngại của du khách</a:t>
            </a:r>
          </a:p>
          <a:p>
            <a:r>
              <a:t>Cẩm nang di sản quá dài. Một tài liệu hướng dẫn cho riêng Huế đã 24 trang — không ai đọc hết trước chuyến đi.</a:t>
            </a:r>
          </a:p>
          <a:p>
            <a:r>
              <a:t>Hai nguồn tách rời. Lịch tour và giá vé nằm trong DynamoDB; ý nghĩa văn hoá nằm trong PDF trên S3. Không có chỗ nào trả lời được cả hai.</a:t>
            </a:r>
          </a:p>
          <a:p>
            <a:r>
              <a:t>Câu hỏi tự nhiên không map được sang truy vấn. "Tour ở Huế dưới 700 nghìn" là một câu tiếng Việt, không phải một câu lệnh lọc.</a:t>
            </a:r>
          </a:p>
          <a:p>
            <a:r>
              <a:t>Tiêu chí thành công đặt ra</a:t>
            </a:r>
          </a:p>
          <a:p>
            <a:r>
              <a:t>Trả lời phải có gốc. Mọi thông tin di sản phải truy được về đúng đoạn trong tài liệu nguồn, không để mô hình tự bịa.</a:t>
            </a:r>
          </a:p>
          <a:p>
            <a:r>
              <a:t>Một cửa duy nhất. Cùng một khung chat xử lý được cả tìm tour, tra cứu văn hoá lẫn đăng ký.</a:t>
            </a:r>
          </a:p>
          <a:p>
            <a:r>
              <a:t>Không cần tài khoản. Đăng ký và tra cứu chỉ bằng số điện thoại, giảm rào cản cho khách vãng lai.</a:t>
            </a:r>
          </a:p>
          <a:p>
            <a:r>
              <a:t>TravelChatbot.App</a:t>
            </a:r>
          </a:p>
          <a:p>
            <a:r>
              <a:t>Trợ lý Du lịch Di sản Việt Nam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User stories</a:t>
            </a:r>
          </a:p>
          <a:p/>
          <a:p>
            <a:r>
              <a:t>01 · Bài toán &amp; lĩnh vực</a:t>
            </a:r>
          </a:p>
          <a:p>
            <a:r>
              <a:t>03 / 16</a:t>
            </a:r>
          </a:p>
          <a:p>
            <a:r>
              <a:t>User stories</a:t>
            </a:r>
          </a:p>
          <a:p>
            <a:r>
              <a:t>Bốn tình huống người dùng định hình toàn bộ hệ thống</a:t>
            </a:r>
          </a:p>
          <a:p>
            <a:r>
              <a:t>Mã</a:t>
            </a:r>
          </a:p>
          <a:p>
            <a:r>
              <a:t>Là một…</a:t>
            </a:r>
          </a:p>
          <a:p>
            <a:r>
              <a:t>Tôi muốn…</a:t>
            </a:r>
          </a:p>
          <a:p>
            <a:r>
              <a:t>Để…</a:t>
            </a:r>
          </a:p>
          <a:p>
            <a:r>
              <a:t>US-01 | Khách du lịch | Hỏi bằng tiếng nói tự nhiên về tour ở một địa phương | Không phải tự lọc thủ công qua danh sách dài</a:t>
            </a:r>
          </a:p>
          <a:p>
            <a:r>
              <a:t>US-02 | Khách du lịch | Biết ý nghĩa văn hoá và lịch sử của điểm đến | Chuyến đi có chiều sâu chứ không chỉ là chụp ảnh</a:t>
            </a:r>
          </a:p>
          <a:p>
            <a:r>
              <a:t>US-03 | Khách vãng lai | Đăng ký tour chỉ bằng số điện thoại | Không phải tạo tài khoản mới</a:t>
            </a:r>
          </a:p>
          <a:p>
            <a:r>
              <a:t>US-04 | Khách đã đăng ký | Tra lại danh sách tour của mình kèm cẩm nang | Kiểm tra lịch trình và chuẩn bị trước khi đi</a:t>
            </a:r>
          </a:p>
          <a:p>
            <a:r>
              <a:t>Cả bốn tình huống đều bắt đầu bằng một câu hỏi tiếng Việt tự do — nên lớp đầu tiên của hệ thống bắt buộc phải là một mô hình ngôn ngữ biết gọi công cụ.</a:t>
            </a:r>
          </a:p>
          <a:p>
            <a:r>
              <a:t>TravelChatbot.App</a:t>
            </a:r>
          </a:p>
          <a:p>
            <a:r>
              <a:t>Trợ lý Du lịch Di sản Việt Nam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MVP features</a:t>
            </a:r>
          </a:p>
          <a:p/>
          <a:p>
            <a:r>
              <a:t>02 · Phạm vi sản phẩm</a:t>
            </a:r>
          </a:p>
          <a:p>
            <a:r>
              <a:t>04 / 16</a:t>
            </a:r>
          </a:p>
          <a:p>
            <a:r>
              <a:t>MVP feature list</a:t>
            </a:r>
          </a:p>
          <a:p>
            <a:r>
              <a:t>Sáu tính năng đã chạy, hai còn dở dang</a:t>
            </a:r>
          </a:p>
          <a:p>
            <a:r>
              <a:t>Tính năng</a:t>
            </a:r>
          </a:p>
          <a:p>
            <a:r>
              <a:t>Hiện thực bằng</a:t>
            </a:r>
          </a:p>
          <a:p>
            <a:r>
              <a:t>Trạng thái</a:t>
            </a:r>
          </a:p>
          <a:p>
            <a:r>
              <a:t>Hỏi đáp bằng ngôn ngữ tự nhiên | ControllerAgent · llm.bind_tools() | Hoàn thành</a:t>
            </a:r>
          </a:p>
          <a:p>
            <a:r>
              <a:t>Tìm tour theo địa điểm | DynamoDB query · khoá phân vùng place | Hoàn thành</a:t>
            </a:r>
          </a:p>
          <a:p>
            <a:r>
              <a:t>Tìm tour theo ngữ nghĩa &amp; lọc giá | Pinecone cosine · lọc metadata price | Hoàn thành</a:t>
            </a:r>
          </a:p>
          <a:p>
            <a:r>
              <a:t>Tra cứu di sản từ tài liệu PDF | S3 → PyPDF2 → chunk → embed → truy vấn | Hoàn thành</a:t>
            </a:r>
          </a:p>
          <a:p>
            <a:r>
              <a:t>Đăng ký tour bằng số điện thoại | DynamoDB PutItem · chống đăng ký trùng | Hoàn thành</a:t>
            </a:r>
          </a:p>
          <a:p>
            <a:r>
              <a:t>Xem tour đã đăng ký kèm cẩm nang | GSI phoneNumber-createAt · S3 presigned URL | Hoàn thành</a:t>
            </a:r>
          </a:p>
          <a:p>
            <a:r>
              <a:t>Phân trang kết quả | Token đã sinh, chưa nối vào giao diện | Đang dở</a:t>
            </a:r>
          </a:p>
          <a:p>
            <a:r>
              <a:t>Hiển thị trích dẫn nguồn | Metadata đã đủ, chưa render ra màn hình | Chưa làm</a:t>
            </a:r>
          </a:p>
          <a:p>
            <a:r>
              <a:t>TravelChatbot.App</a:t>
            </a:r>
          </a:p>
          <a:p>
            <a:r>
              <a:t>Trạng thái tính đến 05.09.2026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Kiến trúc</a:t>
            </a:r>
          </a:p>
          <a:p/>
          <a:p>
            <a:r>
              <a:t>03 · Kiến trúc &amp; thiết kế RAG</a:t>
            </a:r>
          </a:p>
          <a:p>
            <a:r>
              <a:t>05 / 16</a:t>
            </a:r>
          </a:p>
          <a:p>
            <a:r>
              <a:t>System architecture</a:t>
            </a:r>
          </a:p>
          <a:p>
            <a:r>
              <a:t>Bốn lớp, một điểm vào duy nhất</a:t>
            </a:r>
          </a:p>
          <a:p>
            <a:r>
              <a:t>Giao diện chat Streamlit</a:t>
            </a:r>
          </a:p>
          <a:p>
            <a:r>
              <a:t>Lớp trình bày</a:t>
            </a:r>
          </a:p>
          <a:p>
            <a:r>
              <a:t>· st.chat_input · st.chat_message · lịch sử hiển thị trong session_state</a:t>
            </a:r>
          </a:p>
          <a:p>
            <a:r>
              <a:t>↓</a:t>
            </a:r>
          </a:p>
          <a:p>
            <a:r>
              <a:t>ControllerAgent — bộ điều phối</a:t>
            </a:r>
          </a:p>
          <a:p>
            <a:r>
              <a:t>Lớp quyết định</a:t>
            </a:r>
          </a:p>
          <a:p>
            <a:r>
              <a:t>· StateGraph · llm_node ⇄ handle_tool_call · định tuyến theo tên tool</a:t>
            </a:r>
          </a:p>
          <a:p>
            <a:r>
              <a:t>↓</a:t>
            </a:r>
          </a:p>
          <a:p>
            <a:r>
              <a:t>ToursSearchAgent</a:t>
            </a:r>
          </a:p>
          <a:p>
            <a:r>
              <a:t>Tác tử tra cứu</a:t>
            </a:r>
          </a:p>
          <a:p>
            <a:r>
              <a:t>· get_tours · get_heritage_guide</a:t>
            </a:r>
          </a:p>
          <a:p>
            <a:r>
              <a:t>ToursRegisterAgent</a:t>
            </a:r>
          </a:p>
          <a:p>
            <a:r>
              <a:t>Tác tử giao dịch</a:t>
            </a:r>
          </a:p>
          <a:p>
            <a:r>
              <a:t>· register_tour · get_registered_tours</a:t>
            </a:r>
          </a:p>
          <a:p>
            <a:r>
              <a:t>↓</a:t>
            </a:r>
          </a:p>
          <a:p>
            <a:r>
              <a:t>Pinecone</a:t>
            </a:r>
          </a:p>
          <a:p>
            <a:r>
              <a:t>Vector</a:t>
            </a:r>
          </a:p>
          <a:p>
            <a:r>
              <a:t>· tours · tour-heritage-guides</a:t>
            </a:r>
          </a:p>
          <a:p>
            <a:r>
              <a:t>DynamoDB</a:t>
            </a:r>
          </a:p>
          <a:p>
            <a:r>
              <a:t>Giao dịch</a:t>
            </a:r>
          </a:p>
          <a:p>
            <a:r>
              <a:t>· Tours · UserTours · 2 GSI</a:t>
            </a:r>
          </a:p>
          <a:p>
            <a:r>
              <a:t>Amazon S3</a:t>
            </a:r>
          </a:p>
          <a:p>
            <a:r>
              <a:t>Tài liệu</a:t>
            </a:r>
          </a:p>
          <a:p>
            <a:r>
              <a:t>· PDF cẩm nang · presigned URL</a:t>
            </a:r>
          </a:p>
          <a:p>
            <a:r>
              <a:t>Mọi câu hỏi đều đi qua ControllerAgent. Người dùng không chọn chức năng — mô hình tự quyết định gọi tool nào, rồi kết quả quay ngược lên để viết thành câu trả lời.</a:t>
            </a:r>
          </a:p>
          <a:p>
            <a:r>
              <a:t>TravelChatbot.App</a:t>
            </a:r>
          </a:p>
          <a:p>
            <a:r>
              <a:t>Kiến trúc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RAG pipeline</a:t>
            </a:r>
          </a:p>
          <a:p/>
          <a:p>
            <a:r>
              <a:t>03 · Kiến trúc &amp; thiết kế RAG</a:t>
            </a:r>
          </a:p>
          <a:p>
            <a:r>
              <a:t>06 / 16</a:t>
            </a:r>
          </a:p>
          <a:p>
            <a:r>
              <a:t>RAG pipeline</a:t>
            </a:r>
          </a:p>
          <a:p>
            <a:r>
              <a:t>Từ câu hỏi tiếng Việt đến câu trả lời có gốc</a:t>
            </a:r>
          </a:p>
          <a:p>
            <a:r>
              <a:t>01</a:t>
            </a:r>
          </a:p>
          <a:p>
            <a:r>
              <a:t>Câu hỏi</a:t>
            </a:r>
          </a:p>
          <a:p>
            <a:r>
              <a:t>Người dùng gõ tự do trong khung chat Streamlit.</a:t>
            </a:r>
          </a:p>
          <a:p>
            <a:r>
              <a:t>02</a:t>
            </a:r>
          </a:p>
          <a:p>
            <a:r>
              <a:t>Chọn công cụ</a:t>
            </a:r>
          </a:p>
          <a:p>
            <a:r>
              <a:t>LLM quyết định gọi tool nào và trích tham số place, giá, từ khoá.</a:t>
            </a:r>
          </a:p>
          <a:p>
            <a:r>
              <a:t>03</a:t>
            </a:r>
          </a:p>
          <a:p>
            <a:r>
              <a:t>Embedding</a:t>
            </a:r>
          </a:p>
          <a:p>
            <a:r>
              <a:t>Câu truy vấn được mã hoá thành vector 1536 chiều.</a:t>
            </a:r>
          </a:p>
          <a:p>
            <a:r>
              <a:t>04</a:t>
            </a:r>
          </a:p>
          <a:p>
            <a:r>
              <a:t>Tìm vector</a:t>
            </a:r>
          </a:p>
          <a:p>
            <a:r>
              <a:t>Pinecone so khớp cosine, lọc metadata theo place và price.</a:t>
            </a:r>
          </a:p>
          <a:p>
            <a:r>
              <a:t>05</a:t>
            </a:r>
          </a:p>
          <a:p>
            <a:r>
              <a:t>Ghép ngữ cảnh</a:t>
            </a:r>
          </a:p>
          <a:p>
            <a:r>
              <a:t>Các đoạn văn khớp nhất được đưa lại vào hội thoại.</a:t>
            </a:r>
          </a:p>
          <a:p>
            <a:r>
              <a:t>06</a:t>
            </a:r>
          </a:p>
          <a:p>
            <a:r>
              <a:t>Sinh câu trả lời</a:t>
            </a:r>
          </a:p>
          <a:p>
            <a:r>
              <a:t>LLM viết lại bằng tiếng Việt, chỉ dựa trên đoạn đã lấy về.</a:t>
            </a:r>
          </a:p>
          <a:p>
            <a:r>
              <a:t>1536Chiều vector</a:t>
            </a:r>
          </a:p>
          <a:p>
            <a:r>
              <a:t>Bắt buộc khớp index</a:t>
            </a:r>
          </a:p>
          <a:p>
            <a:r>
              <a:t>2000Ký tự mỗi đoạn</a:t>
            </a:r>
          </a:p>
          <a:p>
            <a:r>
              <a:t>RecursiveCharacterTextSplitter</a:t>
            </a:r>
          </a:p>
          <a:p>
            <a:r>
              <a:t>200Ký tự chồng lấn</a:t>
            </a:r>
          </a:p>
          <a:p>
            <a:r>
              <a:t>Giữ mạch ngữ cảnh</a:t>
            </a:r>
          </a:p>
          <a:p>
            <a:r>
              <a:t>02Chỉ mục vector</a:t>
            </a:r>
          </a:p>
          <a:p>
            <a:r>
              <a:t>Tour · Di sản</a:t>
            </a:r>
          </a:p>
          <a:p>
            <a:r>
              <a:t>TravelChatbot.App</a:t>
            </a:r>
          </a:p>
          <a:p>
            <a:r>
              <a:t>Luồng truy xuất tăng cường sinh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Đa tác tử</a:t>
            </a:r>
          </a:p>
          <a:p/>
          <a:p>
            <a:r>
              <a:t>03 · Kiến trúc &amp; thiết kế RAG</a:t>
            </a:r>
          </a:p>
          <a:p>
            <a:r>
              <a:t>07 / 16</a:t>
            </a:r>
          </a:p>
          <a:p>
            <a:r>
              <a:t>Multi-agent orchestration</a:t>
            </a:r>
          </a:p>
          <a:p>
            <a:r>
              <a:t>Một vòng lặp đóng giữa mô hình và công cụ</a:t>
            </a:r>
          </a:p>
          <a:p>
            <a:r>
              <a:t>ControllerAgent</a:t>
            </a:r>
          </a:p>
          <a:p>
            <a:r>
              <a:t>StateGraph · MessagesState</a:t>
            </a:r>
          </a:p>
          <a:p>
            <a:r>
              <a:t>↓   llm_node   ↓</a:t>
            </a:r>
          </a:p>
          <a:p>
            <a:r>
              <a:t>Mô hình quyết định</a:t>
            </a:r>
          </a:p>
          <a:p>
            <a:r>
              <a:t>Có tool_calls → đi tiếp  ·  Không có → END</a:t>
            </a:r>
          </a:p>
          <a:p>
            <a:r>
              <a:t>↓   handle_tool_call   ↓</a:t>
            </a:r>
          </a:p>
          <a:p>
            <a:r>
              <a:t>ToursSearchAgent</a:t>
            </a:r>
          </a:p>
          <a:p>
            <a:r>
              <a:t>ToolNode · 2 tool tra cứu</a:t>
            </a:r>
          </a:p>
          <a:p>
            <a:r>
              <a:t>ToursRegisterAgent</a:t>
            </a:r>
          </a:p>
          <a:p>
            <a:r>
              <a:t>ToolNode · 2 tool giao dịch</a:t>
            </a:r>
          </a:p>
          <a:p>
            <a:r>
              <a:t>↑   kết quả quay lại llm_node   ↑</a:t>
            </a:r>
          </a:p>
          <a:p>
            <a:r>
              <a:t>Vì sao tách tác tử</a:t>
            </a:r>
          </a:p>
          <a:p>
            <a:r>
              <a:t>Phân tách trách nhiệm. Nhóm tra cứu chỉ đọc; nhóm giao dịch được phép ghi vào DynamoDB. Ranh giới rõ ràng giữa đọc và ghi.</a:t>
            </a:r>
          </a:p>
          <a:p>
            <a:r>
              <a:t>Định tuyến theo tên tool. ControllerAgent so tên tool mà mô hình gọi với tập tool mà mỗi tác tử đăng ký, rồi chuyển state sang đúng tác tử.</a:t>
            </a:r>
          </a:p>
          <a:p>
            <a:r>
              <a:t>Mở rộng không đụng lõi. Thêm một tác tử mới chỉ cần khai báo tập tool của nó, không phải sửa vòng lặp điều phối.</a:t>
            </a:r>
          </a:p>
          <a:p>
            <a:r>
              <a:t>Trạng thái dùng chung. Cả ba tác tử cùng thao tác trên MessagesState, nên kết quả tool nối thẳng vào mạch hội thoại.</a:t>
            </a:r>
          </a:p>
          <a:p>
            <a:r>
              <a:t>TravelChatbot.App</a:t>
            </a:r>
          </a:p>
          <a:p>
            <a:r>
              <a:t>LangGraph · điều phối đa tác tử</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Bộ công cụ</a:t>
            </a:r>
          </a:p>
          <a:p/>
          <a:p>
            <a:r>
              <a:t>03 · Kiến trúc &amp; thiết kế RAG</a:t>
            </a:r>
          </a:p>
          <a:p>
            <a:r>
              <a:t>08 / 16</a:t>
            </a:r>
          </a:p>
          <a:p>
            <a:r>
              <a:t>Tool specification</a:t>
            </a:r>
          </a:p>
          <a:p>
            <a:r>
              <a:t>Bốn công cụ mô hình được phép tự gọi</a:t>
            </a:r>
          </a:p>
          <a:p>
            <a:r>
              <a:t>Tool</a:t>
            </a:r>
          </a:p>
          <a:p>
            <a:r>
              <a:t>Tham số</a:t>
            </a:r>
          </a:p>
          <a:p>
            <a:r>
              <a:t>Nguồn dữ liệu &amp; hành vi</a:t>
            </a:r>
          </a:p>
          <a:p>
            <a:r>
              <a:t>get_tours</a:t>
            </a:r>
          </a:p>
          <a:p>
            <a:r>
              <a:t>place · search_query · type</a:t>
            </a:r>
          </a:p>
          <a:p>
            <a:r>
              <a:t>pagination_token · page_size</a:t>
            </a:r>
          </a:p>
          <a:p>
            <a:r>
              <a:t>Có search_query thì đi Pinecone tìm ngữ nghĩa; không thì truy vấn thẳng DynamoDB. Tự nhận diện mẫu "under N VND" để lọc giá.</a:t>
            </a:r>
          </a:p>
          <a:p>
            <a:r>
              <a:t>get_heritage_guide</a:t>
            </a:r>
          </a:p>
          <a:p>
            <a:r>
              <a:t>place · search_query</a:t>
            </a:r>
          </a:p>
          <a:p>
            <a:r>
              <a:t>pagination_token · page_size</a:t>
            </a:r>
          </a:p>
          <a:p>
            <a:r>
              <a:t>Tìm tour của địa phương, kiểm tra đã nhúng chưa. Nếu chưa thì tải PDF từ S3, cắt đoạn, nhúng rồi mới truy vấn chỉ mục di sản.</a:t>
            </a:r>
          </a:p>
          <a:p>
            <a:r>
              <a:t>register_tour</a:t>
            </a:r>
          </a:p>
          <a:p>
            <a:r>
              <a:t>tourId · phoneNumber</a:t>
            </a:r>
          </a:p>
          <a:p>
            <a:r>
              <a:t>Kiểm tra tour tồn tại qua GSI tourId-index, chặn đăng ký trùng, rồi ghi bản ghi mới kèm mốc thời gian.</a:t>
            </a:r>
          </a:p>
          <a:p>
            <a:r>
              <a:t>get_registered_tours</a:t>
            </a:r>
          </a:p>
          <a:p>
            <a:r>
              <a:t>phoneNumber</a:t>
            </a:r>
          </a:p>
          <a:p>
            <a:r>
              <a:t>Truy vấn GSI phoneNumber-createAt, ghép chi tiết từng tour và sinh presigned URL cho file cẩm nang trên S3.</a:t>
            </a:r>
          </a:p>
          <a:p>
            <a:r>
              <a:t>Tham số của cả bốn tool được khai báo bằng schema Pydantic trong models/tour_tool_args.py, nên mô hình nhận được mô tả từng trường và tự điền đúng kiểu dữ liệu.</a:t>
            </a:r>
          </a:p>
          <a:p>
            <a:r>
              <a:t>TravelChatbot.App</a:t>
            </a:r>
          </a:p>
          <a:p>
            <a:r>
              <a:t>Đặc tả công cụ</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Nạp tài liệu</a:t>
            </a:r>
          </a:p>
          <a:p/>
          <a:p>
            <a:r>
              <a:t>04 · Dữ liệu</a:t>
            </a:r>
          </a:p>
          <a:p>
            <a:r>
              <a:t>09 / 16</a:t>
            </a:r>
          </a:p>
          <a:p>
            <a:r>
              <a:t>Document ingestion</a:t>
            </a:r>
          </a:p>
          <a:p>
            <a:r>
              <a:t>Cẩm nang PDF được nhúng đúng một lần, ngay lần hỏi đầu tiên</a:t>
            </a:r>
          </a:p>
          <a:p>
            <a:r>
              <a:t>01</a:t>
            </a:r>
          </a:p>
          <a:p>
            <a:r>
              <a:t>Tải từ S3</a:t>
            </a:r>
          </a:p>
          <a:p>
            <a:r>
              <a:t>Lấy file cẩm nang theo khoá lưu trong bản ghi tour.</a:t>
            </a:r>
          </a:p>
          <a:p>
            <a:r>
              <a:t>02</a:t>
            </a:r>
          </a:p>
          <a:p>
            <a:r>
              <a:t>Bóc chữ</a:t>
            </a:r>
          </a:p>
          <a:p>
            <a:r>
              <a:t>PyPDF2 đọc toàn bộ trang và nối lại thành văn bản thuần.</a:t>
            </a:r>
          </a:p>
          <a:p>
            <a:r>
              <a:t>03</a:t>
            </a:r>
          </a:p>
          <a:p>
            <a:r>
              <a:t>Cắt đoạn</a:t>
            </a:r>
          </a:p>
          <a:p>
            <a:r>
              <a:t>Chia 2000 ký tự, chồng lấn 200 để không đứt mạch giữa chừng.</a:t>
            </a:r>
          </a:p>
          <a:p>
            <a:r>
              <a:t>04</a:t>
            </a:r>
          </a:p>
          <a:p>
            <a:r>
              <a:t>Nhúng vector</a:t>
            </a:r>
          </a:p>
          <a:p>
            <a:r>
              <a:t>Mỗi đoạn thành một vector 1536 chiều kèm metadata place và tourId.</a:t>
            </a:r>
          </a:p>
          <a:p>
            <a:r>
              <a:t>05</a:t>
            </a:r>
          </a:p>
          <a:p>
            <a:r>
              <a:t>Ghi &amp; bỏ qua</a:t>
            </a:r>
          </a:p>
          <a:p>
            <a:r>
              <a:t>Định danh theo tourId và số thứ tự đoạn, lần sau kiểm tra là bỏ qua.</a:t>
            </a:r>
          </a:p>
          <a:p>
            <a:r>
              <a:t>Tài liệu nguồn thực tế</a:t>
            </a:r>
          </a:p>
          <a:p>
            <a:r>
              <a:t>HeritageGuide.Hue.Eng.pdf — 24 trang. Cẩm nang di sản Huế: lộ trình sông Hương, nhã nhạc cung đình, hệ sinh thái Tam Giang, kèm giá vé từng tour nhỏ.</a:t>
            </a:r>
          </a:p>
          <a:p>
            <a:r>
              <a:t>Mỗi tour trỏ tới một cẩm nang riêng qua trường heritageGuide, nên thêm địa phương mới chỉ là thêm một file lên S3.</a:t>
            </a:r>
          </a:p>
          <a:p>
            <a:r>
              <a:t>24Trang tài liệu</a:t>
            </a:r>
          </a:p>
          <a:p>
            <a:r>
              <a:t>Cẩm nang Huế</a:t>
            </a:r>
          </a:p>
          <a:p>
            <a:r>
              <a:t>2000Ký tự mỗi đoạn</a:t>
            </a:r>
          </a:p>
          <a:p>
            <a:r>
              <a:t>Chồng lấn 200</a:t>
            </a:r>
          </a:p>
          <a:p>
            <a:r>
              <a:t>TravelChatbot.App</a:t>
            </a:r>
          </a:p>
          <a:p>
            <a:r>
              <a:t>Nạp và nhúng tài liệu di sản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Demo RAG</a:t>
            </a:r>
          </a:p>
          <a:p/>
          <a:p>
            <a:r>
              <a:t>05 · Demo</a:t>
            </a:r>
          </a:p>
          <a:p>
            <a:r>
              <a:t>10 / 16</a:t>
            </a:r>
          </a:p>
          <a:p>
            <a:r>
              <a:t>Truy xuất có dẫn nguồn</a:t>
            </a:r>
          </a:p>
          <a:p>
            <a:r>
              <a:t>Câu trả lời khớp từng con số với trang tài liệu gốc</a:t>
            </a:r>
          </a:p>
          <a:p>
            <a:r>
              <a:t>Nguồn · HeritageGuide.Hue.Eng.pdf · trang 12 / 24</a:t>
            </a:r>
          </a:p>
          <a:p>
            <a:r>
              <a:t>Kết quả · giao diện chat Streamlit</a:t>
            </a:r>
          </a:p>
          <a:p>
            <a:r>
              <a:t>350KTour "Hue Music"</a:t>
            </a:r>
          </a:p>
          <a:p>
            <a:r>
              <a:t>Khớp đúng · 20h–21h</a:t>
            </a:r>
          </a:p>
          <a:p>
            <a:r>
              <a:t>450KTour "Tea Time"</a:t>
            </a:r>
          </a:p>
          <a:p>
            <a:r>
              <a:t>Khớp đúng · theo mùa</a:t>
            </a:r>
          </a:p>
          <a:p>
            <a:r>
              <a:t>750KTour "Royal Tea"</a:t>
            </a:r>
          </a:p>
          <a:p>
            <a:r>
              <a:t>Khớp đúng · theo mùa</a:t>
            </a:r>
          </a:p>
          <a:p>
            <a:r>
              <a:t>TravelChatbot.App</a:t>
            </a:r>
          </a:p>
          <a:p>
            <a:r>
              <a:t>Bằng chứng truy xuất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Demo tìm tour</a:t>
            </a:r>
          </a:p>
          <a:p/>
          <a:p>
            <a:r>
              <a:t>05 · Demo</a:t>
            </a:r>
          </a:p>
          <a:p>
            <a:r>
              <a:t>11 / 16</a:t>
            </a:r>
          </a:p>
          <a:p>
            <a:r>
              <a:t>Tìm tour theo ngữ nghĩa</a:t>
            </a:r>
          </a:p>
          <a:p>
            <a:r>
              <a:t>Cùng một khung chat, ba kiểu truy vấn khác nhau</a:t>
            </a:r>
          </a:p>
          <a:p>
            <a:r>
              <a:t>Địa điểm</a:t>
            </a:r>
          </a:p>
          <a:p>
            <a:r>
              <a:t>Tour</a:t>
            </a:r>
          </a:p>
          <a:p>
            <a:r>
              <a:t>Nhóm</a:t>
            </a:r>
          </a:p>
          <a:p>
            <a:r>
              <a:t>Giá (VND)</a:t>
            </a:r>
          </a:p>
          <a:p>
            <a:r>
              <a:t>Ha Noi | Old Quarter Walking Tour | Cultural | 500.000</a:t>
            </a:r>
          </a:p>
          <a:p>
            <a:r>
              <a:t>Hoi An | Lantern Night Walk | Romantic | 600.000</a:t>
            </a:r>
          </a:p>
          <a:p>
            <a:r>
              <a:t>Can Tho | Cai Rang Floating Market | Cultural | 700.000</a:t>
            </a:r>
          </a:p>
          <a:p>
            <a:r>
              <a:t>Hue | Imperial City Historical Tour | Cultural | 800.000</a:t>
            </a:r>
          </a:p>
          <a:p>
            <a:r>
              <a:t>Da Lat | Waterfall Adventure | Nature | 900.000</a:t>
            </a:r>
          </a:p>
          <a:p>
            <a:r>
              <a:t>Nha Trang | Island Hopping &amp; Snorkeling | Beach | 1.000.000</a:t>
            </a:r>
          </a:p>
          <a:p>
            <a:r>
              <a:t>Ha Long | Bay Luxury Cruise | Cruise | 2.500.000</a:t>
            </a:r>
          </a:p>
          <a:p>
            <a:r>
              <a:t>Ba đường đi trong một tool</a:t>
            </a:r>
          </a:p>
          <a:p>
            <a:r>
              <a:t>"Cho tôi xem tour ở Hội An" → lọc theo khoá phân vùng place, truy vấn DynamoDB trực tiếp, không cần vector.</a:t>
            </a:r>
          </a:p>
          <a:p>
            <a:r>
              <a:t>"Tour dưới 600 nghìn" → nhận diện ngưỡng giá trong câu, chuyển thành bộ lọc metadata trên Pinecone.</a:t>
            </a:r>
          </a:p>
          <a:p>
            <a:r>
              <a:t>"Tour nào lãng mạn về đêm" → không có từ khoá khớp cứng, so khớp cosine trên mô tả tour đã nhúng.</a:t>
            </a:r>
          </a:p>
          <a:p>
            <a:r>
              <a:t>Bảy tour trong bảng là dữ liệu thật đang nằm trong bảng Tours, lấy từ phiên chạy thử.</a:t>
            </a:r>
          </a:p>
          <a:p>
            <a:r>
              <a:t>TravelChatbot.App</a:t>
            </a:r>
          </a:p>
          <a:p>
            <a:r>
              <a:t>Demo tìm kiếm tour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Công nghệ</a:t>
            </a:r>
          </a:p>
          <a:p/>
          <a:p>
            <a:r>
              <a:t>06 · Công nghệ</a:t>
            </a:r>
          </a:p>
          <a:p>
            <a:r>
              <a:t>12 / 16</a:t>
            </a:r>
          </a:p>
          <a:p>
            <a:r>
              <a:t>Technology stack</a:t>
            </a:r>
          </a:p>
          <a:p>
            <a:r>
              <a:t>Toàn bộ hệ thống chạy trên dịch vụ quản lý, không tự vận hành máy chủ</a:t>
            </a:r>
          </a:p>
          <a:p>
            <a:r>
              <a:t>Lớp</a:t>
            </a:r>
          </a:p>
          <a:p>
            <a:r>
              <a:t>Công nghệ</a:t>
            </a:r>
          </a:p>
          <a:p>
            <a:r>
              <a:t>Vai trò trong hệ thống</a:t>
            </a:r>
          </a:p>
          <a:p>
            <a:r>
              <a:t>Giao diện | Streamlit | Khung chat, lịch sử hội thoại, chạy trên cổng 8501</a:t>
            </a:r>
          </a:p>
          <a:p>
            <a:r>
              <a:t>Điều phối | LangGraph · StateGraph · ToolNode | Vòng lặp mô hình ⇄ công cụ, định tuyến giữa ba tác tử</a:t>
            </a:r>
          </a:p>
          <a:p>
            <a:r>
              <a:t>Mô hình ngôn ngữ | LangChain ChatOpenAI · function calling | Hiểu câu hỏi tiếng Việt, chọn tool, viết câu trả lời</a:t>
            </a:r>
          </a:p>
          <a:p>
            <a:r>
              <a:t>Embedding | Mô hình nhúng 1536 chiều | Mã hoá câu truy vấn và từng đoạn tài liệu</a:t>
            </a:r>
          </a:p>
          <a:p>
            <a:r>
              <a:t>Cơ sở dữ liệu vector | Pinecone serverless · AWS · cosine | Hai chỉ mục: thông tin tour và đoạn cẩm nang di sản</a:t>
            </a:r>
          </a:p>
          <a:p>
            <a:r>
              <a:t>Cơ sở dữ liệu giao dịch | Amazon DynamoDB · 2 bảng · 2 GSI | Tour, đăng ký của khách, tra cứu theo số điện thoại</a:t>
            </a:r>
          </a:p>
          <a:p>
            <a:r>
              <a:t>Lưu trữ tài liệu | Amazon S3 · presigned URL | File PDF cẩm nang, chia sẻ có thời hạn cho người dùng</a:t>
            </a:r>
          </a:p>
          <a:p>
            <a:r>
              <a:t>Xử lý tài liệu | PyPDF2 · RecursiveCharacterTextSplitter | Bóc chữ khỏi PDF và cắt đoạn có chồng lấn</a:t>
            </a:r>
          </a:p>
          <a:p>
            <a:r>
              <a:t>Đóng gói | Docker · python:3.11-slim | Ảnh chạy được kèm healthcheck trên cổng 8501</a:t>
            </a:r>
          </a:p>
          <a:p>
            <a:r>
              <a:t>TravelChatbot.App</a:t>
            </a:r>
          </a:p>
          <a:p>
            <a:r>
              <a:t>Ngăn xếp công nghệ</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Kế hoạch kiểm thử</a:t>
            </a:r>
          </a:p>
          <a:p/>
          <a:p>
            <a:r>
              <a:t>07 · Kiểm thử &amp; đánh giá</a:t>
            </a:r>
          </a:p>
          <a:p>
            <a:r>
              <a:t>13 / 16</a:t>
            </a:r>
          </a:p>
          <a:p>
            <a:r>
              <a:t>Test plan</a:t>
            </a:r>
          </a:p>
          <a:p>
            <a:r>
              <a:t>Sáu kịch bản phủ cả bốn nhóm chức năng</a:t>
            </a:r>
          </a:p>
          <a:p>
            <a:r>
              <a:t>Mã</a:t>
            </a:r>
          </a:p>
          <a:p>
            <a:r>
              <a:t>Loại truy vấn</a:t>
            </a:r>
          </a:p>
          <a:p>
            <a:r>
              <a:t>Câu hỏi mẫu</a:t>
            </a:r>
          </a:p>
          <a:p>
            <a:r>
              <a:t>Kết quả mong đợi</a:t>
            </a:r>
          </a:p>
          <a:p>
            <a:r>
              <a:t>TC_01 | Tìm tour theo địa điểm | "Cho tôi xem tour ở Hội An" | Trả về đúng tour thuộc Hội An kèm giá và lịch</a:t>
            </a:r>
          </a:p>
          <a:p>
            <a:r>
              <a:t>TC_02 | Lọc theo ngưỡng giá | "Tour nào dưới 600.000 VND" | Chỉ hiện tour có giá thấp hơn ngưỡng</a:t>
            </a:r>
          </a:p>
          <a:p>
            <a:r>
              <a:t>TC_03 | Tra cứu di sản | "Nhã nhạc cung đình Huế có gì đặc biệt" | Trích đúng nội dung và giá vé từ cẩm nang gốc</a:t>
            </a:r>
          </a:p>
          <a:p>
            <a:r>
              <a:t>TC_04 | Xem tour đã đăng ký | "Tour đã đăng ký của số 0258963147" | Liệt kê theo số điện thoại kèm liên kết cẩm nang</a:t>
            </a:r>
          </a:p>
          <a:p>
            <a:r>
              <a:t>TC_05 | Đăng ký tour | "Đăng ký tour này cho số của tôi" | Ghi bản ghi mới, báo thành công, chặn trùng lần hai</a:t>
            </a:r>
          </a:p>
          <a:p>
            <a:r>
              <a:t>TC_06 | Câu hỏi ngoài phạm vi | "Tỉ số bóng đá tối qua thế nào" | Từ chối lịch sự và hướng người dùng về chủ đề du lịch</a:t>
            </a:r>
          </a:p>
          <a:p>
            <a:r>
              <a:t>TC_01 đến TC_05 kiểm chứng bằng kịch bản trong test.py cộng với thao tác tay trên giao diện Streamlit. TC_06 là kịch bản do đề bài yêu cầu và hiện chưa đạt — xem slide tiếp theo.</a:t>
            </a:r>
          </a:p>
          <a:p>
            <a:r>
              <a:t>TravelChatbot.App</a:t>
            </a:r>
          </a:p>
          <a:p>
            <a:r>
              <a:t>Kế hoạch kiểm thử</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Kết quả kiểm thử</a:t>
            </a:r>
          </a:p>
          <a:p/>
          <a:p>
            <a:r>
              <a:t>07 · Kiểm thử &amp; đánh giá</a:t>
            </a:r>
          </a:p>
          <a:p>
            <a:r>
              <a:t>14 / 16</a:t>
            </a:r>
          </a:p>
          <a:p>
            <a:r>
              <a:t>Kết quả &amp; giới hạn</a:t>
            </a:r>
          </a:p>
          <a:p>
            <a:r>
              <a:t>Năm trên sáu kịch bản đạt — và bốn giới hạn chúng tôi đang thấy rõ</a:t>
            </a:r>
          </a:p>
          <a:p>
            <a:r>
              <a:t>Đã kiểm chứng</a:t>
            </a:r>
          </a:p>
          <a:p>
            <a:r>
              <a:t>TC_01 | Tìm tour theo địa điểm | Đạt</a:t>
            </a:r>
          </a:p>
          <a:p>
            <a:r>
              <a:t>TC_02 | Lọc theo ngưỡng giá | Đạt</a:t>
            </a:r>
          </a:p>
          <a:p>
            <a:r>
              <a:t>TC_03 | Tra cứu di sản từ PDF | Đạt</a:t>
            </a:r>
          </a:p>
          <a:p>
            <a:r>
              <a:t>TC_04 | Xem tour đã đăng ký | Đạt</a:t>
            </a:r>
          </a:p>
          <a:p>
            <a:r>
              <a:t>TC_05 | Đăng ký tour | Đạt</a:t>
            </a:r>
          </a:p>
          <a:p>
            <a:r>
              <a:t>TC_06 | Câu hỏi ngoài phạm vi | Chưa đạt</a:t>
            </a:r>
          </a:p>
          <a:p>
            <a:r>
              <a:t>Giới hạn còn tồn tại</a:t>
            </a:r>
          </a:p>
          <a:p>
            <a:r>
              <a:t>Chưa giữ ngữ cảnh giữa các lượt. Streamlit chạy lại toàn bộ script mỗi lần gửi tin, nên biến trạng thái hội thoại bị khởi tạo lại — câu hỏi nối tiếp chưa hoạt động.</a:t>
            </a:r>
          </a:p>
          <a:p>
            <a:r>
              <a:t>Chưa chặn câu hỏi ngoài lĩnh vực. System prompt chưa có hướng dẫn từ chối, nên mô hình vẫn trả lời mọi chủ đề.</a:t>
            </a:r>
          </a:p>
          <a:p>
            <a:r>
              <a:t>Phân trang chưa nối vào giao diện. Token phân trang đã sinh ra nhưng chưa có nút xem thêm.</a:t>
            </a:r>
          </a:p>
          <a:p>
            <a:r>
              <a:t>Chưa đo định lượng. Mới đánh giá bằng quan sát, chưa có precision@k hay đo độ trễ trên tập câu hỏi chuẩn.</a:t>
            </a:r>
          </a:p>
          <a:p>
            <a:r>
              <a:t>TravelChatbot.App</a:t>
            </a:r>
          </a:p>
          <a:p>
            <a:r>
              <a:t>Kết quả kiểm thử</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Triển khai</a:t>
            </a:r>
          </a:p>
          <a:p/>
          <a:p>
            <a:r>
              <a:t>08 · Triển khai</a:t>
            </a:r>
          </a:p>
          <a:p>
            <a:r>
              <a:t>15 / 16</a:t>
            </a:r>
          </a:p>
          <a:p>
            <a:r>
              <a:t>Deployment instructions</a:t>
            </a:r>
          </a:p>
          <a:p>
            <a:r>
              <a:t>Chạy được bằng hai lệnh, sau khi hạ tầng đã sẵn</a:t>
            </a:r>
          </a:p>
          <a:p>
            <a:r>
              <a:t>Chạy cục bộ</a:t>
            </a:r>
          </a:p>
          <a:p>
            <a:r>
              <a:t>Python 3.11 và tệp .env với đủ 11 biến môi trường đặt cạnh app.py.</a:t>
            </a:r>
          </a:p>
          <a:p>
            <a:r>
              <a:t>Cài phụ thuộc. Tạo môi trường ảo rồi cài từ requirements.txt.</a:t>
            </a:r>
          </a:p>
          <a:p>
            <a:r>
              <a:t>Khởi động. Chạy streamlit trên app.py, mở trình duyệt ở cổng 8501.</a:t>
            </a:r>
          </a:p>
          <a:p>
            <a:r>
              <a:t>Chạy bằng Docker</a:t>
            </a:r>
          </a:p>
          <a:p>
            <a:r>
              <a:t>Ảnh python:3.11-slim đã kèm healthcheck, dựng và chạy với tham số env-file, ánh xạ cổng 8501.</a:t>
            </a:r>
          </a:p>
          <a:p>
            <a:r>
              <a:t>Hạ tầng cần chuẩn bị</a:t>
            </a:r>
          </a:p>
          <a:p>
            <a:r>
              <a:t>DynamoDB. Bảng Tours khoá phân vùng place kèm chỉ mục phụ tourId-index; bảng UserTours khoá tourId và phoneNumber kèm chỉ mục phoneNumber-createAt.</a:t>
            </a:r>
          </a:p>
          <a:p>
            <a:r>
              <a:t>Amazon S3. Một bucket chứa file PDF cẩm nang di sản.</a:t>
            </a:r>
          </a:p>
          <a:p>
            <a:r>
              <a:t>Pinecone. Ứng dụng tự tạo hai chỉ mục nếu chưa có, nên chỉ cần khoá API và tên vùng.</a:t>
            </a:r>
          </a:p>
          <a:p>
            <a:r>
              <a:t>Hai điểm hay sai khi cấu hình: biến vùng Pinecone phải là tên region AWS, và mô hình nhúng bắt buộc trả về đúng 1536 chiều.</a:t>
            </a:r>
          </a:p>
          <a:p>
            <a:r>
              <a:t>TravelChatbot.App</a:t>
            </a:r>
          </a:p>
          <a:p>
            <a:r>
              <a:t>Hướng dẫn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Hướng phát triển</a:t>
            </a:r>
          </a:p>
          <a:p/>
          <a:p>
            <a:r>
              <a:t>TravelChatbot.App</a:t>
            </a:r>
          </a:p>
          <a:p>
            <a:r>
              <a:t>16 / 16</a:t>
            </a:r>
          </a:p>
          <a:p>
            <a:r>
              <a:t>Hướng phát triển tiếp theo</a:t>
            </a:r>
          </a:p>
          <a:p>
            <a:r>
              <a:t>Nền móng đã chạy. Việc còn lại là khép kín vòng tin cậy.</a:t>
            </a:r>
          </a:p>
          <a:p>
            <a:r>
              <a:t>01Hiển thị trích dẫn nguồn</a:t>
            </a:r>
          </a:p>
          <a:p>
            <a:r>
              <a:t>Metadata đã đủ · chỉ cần render</a:t>
            </a:r>
          </a:p>
          <a:p>
            <a:r>
              <a:t>02Giữ ngữ cảnh hội thoại</a:t>
            </a:r>
          </a:p>
          <a:p>
            <a:r>
              <a:t>Đưa trạng thái vào session_state</a:t>
            </a:r>
          </a:p>
          <a:p>
            <a:r>
              <a:t>03Đo lường định lượng</a:t>
            </a:r>
          </a:p>
          <a:p>
            <a:r>
              <a:t>precision@k · độ trễ · tỉ lệ từ chối</a:t>
            </a:r>
          </a:p>
          <a:p>
            <a:r>
              <a:t>Ba việc trên đều nhỏ về khối lượng code nhưng quyết định việc người dùng có tin câu trả lời hay không — nên chúng là ưu tiên kế tiếp, trước mọi tính năng mới.</a:t>
            </a:r>
          </a:p>
          <a:p>
            <a:r>
              <a:t>Streamlit · LangGraph · Pinecone · DynamoDB · S3</a:t>
            </a:r>
          </a:p>
          <a:p>
            <a:r>
              <a:t>Cảm ơn quý vị · 05.09.2026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